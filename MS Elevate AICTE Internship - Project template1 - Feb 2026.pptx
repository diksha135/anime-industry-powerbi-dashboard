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74" r:id="rId7"/>
    <p:sldId id="575" r:id="rId8"/>
    <p:sldId id="576" r:id="rId9"/>
    <p:sldId id="580" r:id="rId10"/>
    <p:sldId id="582" r:id="rId11"/>
    <p:sldId id="581"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48" d="100"/>
          <a:sy n="48" d="100"/>
        </p:scale>
        <p:origin x="38" y="104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2.jpeg"/><Relationship Id="rId5" Type="http://schemas.openxmlformats.org/officeDocument/2006/relationships/hyperlink" Target="mailto:3d5iksh@gmail.com"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5100" b="1" cap="all">
                <a:latin typeface="Aptos"/>
              </a:rPr>
              <a:t>PROJECT TITLE</a:t>
            </a:r>
            <a:endParaRPr lang="en-US" sz="5100">
              <a:latin typeface="Aptos"/>
            </a:endParaRPr>
          </a:p>
          <a:p>
            <a:pPr algn="l"/>
            <a:endParaRPr lang="en-US" sz="5100" b="1" kern="120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4670025" cy="2159629"/>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Diksha</a:t>
            </a:r>
          </a:p>
          <a:p>
            <a:pPr algn="l">
              <a:spcAft>
                <a:spcPts val="600"/>
              </a:spcAft>
            </a:pPr>
            <a:r>
              <a:rPr lang="en-US" sz="1600" b="1" cap="all" dirty="0"/>
              <a:t>College Name: amity university Rajasthan</a:t>
            </a:r>
          </a:p>
          <a:p>
            <a:pPr algn="l">
              <a:spcAft>
                <a:spcPts val="600"/>
              </a:spcAft>
            </a:pPr>
            <a:r>
              <a:rPr lang="en-US" sz="1600" b="1" cap="all" dirty="0"/>
              <a:t>Department: B.TECH (CSE)</a:t>
            </a:r>
          </a:p>
          <a:p>
            <a:pPr algn="l">
              <a:spcAft>
                <a:spcPts val="600"/>
              </a:spcAft>
            </a:pPr>
            <a:r>
              <a:rPr lang="en-US" sz="1600" b="1" cap="all" dirty="0"/>
              <a:t>Email ID: </a:t>
            </a:r>
            <a:r>
              <a:rPr lang="en-US" sz="1600" b="1" dirty="0">
                <a:hlinkClick r:id="rId5"/>
              </a:rPr>
              <a:t>3d5iksh@gmail.com</a:t>
            </a:r>
            <a:r>
              <a:rPr lang="en-US" sz="1600" b="1" dirty="0"/>
              <a:t> </a:t>
            </a:r>
            <a:endParaRPr lang="en-US" sz="1600" b="1"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059886" y="963029"/>
            <a:ext cx="3290992"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Modern digital entertainment industries generate a massive amount of data related to viewer preferences, anime popularity, genres, studios, and ratings. However, this information is often scattered across multiple platforms, making it difficult to analyze trends and derive insights.</a:t>
            </a:r>
          </a:p>
          <a:p>
            <a:r>
              <a:rPr lang="en-US" sz="2400" dirty="0">
                <a:latin typeface="Calibri" panose="020F0502020204030204" pitchFamily="34" charset="0"/>
                <a:ea typeface="Calibri" panose="020F0502020204030204" pitchFamily="34" charset="0"/>
                <a:cs typeface="Calibri" panose="020F0502020204030204" pitchFamily="34" charset="0"/>
              </a:rPr>
              <a:t>Anime fans, producers, and analysts require a centralized system that can visualize key metrics such as popularity, ratings, episode counts, genre distribution, and production studios. Without proper data visualization tools, identifying trends in the anime industry becomes time-consuming and inefficient.</a:t>
            </a:r>
          </a:p>
          <a:p>
            <a:r>
              <a:rPr lang="en-US" sz="2400" dirty="0">
                <a:latin typeface="Calibri" panose="020F0502020204030204" pitchFamily="34" charset="0"/>
                <a:ea typeface="Calibri" panose="020F0502020204030204" pitchFamily="34" charset="0"/>
                <a:cs typeface="Calibri" panose="020F0502020204030204" pitchFamily="34" charset="0"/>
              </a:rPr>
              <a:t>Therefore, there is a need for a data analytics system that can transform raw anime data into interactive visual insights.</a:t>
            </a:r>
          </a:p>
          <a:p>
            <a:pPr marL="0" indent="0">
              <a:buNone/>
            </a:pP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4" y="1304305"/>
            <a:ext cx="10691095" cy="4833447"/>
          </a:xfrm>
        </p:spPr>
        <p:txBody>
          <a:bodyPr vert="horz" lIns="91440" tIns="45720" rIns="91440" bIns="45720" rtlCol="0" anchor="t">
            <a:noAutofit/>
          </a:bodyP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The proposed solution is to develop an </a:t>
            </a:r>
            <a:r>
              <a:rPr lang="en-US" sz="1600" b="1" dirty="0">
                <a:latin typeface="Calibri" panose="020F0502020204030204" pitchFamily="34" charset="0"/>
                <a:ea typeface="Calibri" panose="020F0502020204030204" pitchFamily="34" charset="0"/>
                <a:cs typeface="Calibri" panose="020F0502020204030204" pitchFamily="34" charset="0"/>
              </a:rPr>
              <a:t>interactive Anime Industry Analytics Dashboard using Microsoft Power BI</a:t>
            </a:r>
            <a:r>
              <a:rPr lang="en-US" sz="1600" dirty="0">
                <a:latin typeface="Calibri" panose="020F0502020204030204" pitchFamily="34" charset="0"/>
                <a:ea typeface="Calibri" panose="020F0502020204030204" pitchFamily="34" charset="0"/>
                <a:cs typeface="Calibri" panose="020F0502020204030204" pitchFamily="34" charset="0"/>
              </a:rPr>
              <a:t>.</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The system collects anime dataset information including titles, ratings, genres, popularity scores, episode counts, and production studios. Using Power BI’s data visualization capabilities, the data is transformed into meaningful charts and KPIs.</a:t>
            </a:r>
          </a:p>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Key components of the system include:</a:t>
            </a:r>
          </a:p>
          <a:p>
            <a:r>
              <a:rPr lang="en-US" sz="1600" b="1" dirty="0">
                <a:latin typeface="Calibri" panose="020F0502020204030204" pitchFamily="34" charset="0"/>
                <a:ea typeface="Calibri" panose="020F0502020204030204" pitchFamily="34" charset="0"/>
                <a:cs typeface="Calibri" panose="020F0502020204030204" pitchFamily="34" charset="0"/>
              </a:rPr>
              <a:t>Data Collection</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Anime dataset containing information about anime titles, genres, ratings, popularity, studios, and episode counts.</a:t>
            </a:r>
          </a:p>
          <a:p>
            <a:r>
              <a:rPr lang="en-US" sz="1600" b="1" dirty="0">
                <a:latin typeface="Calibri" panose="020F0502020204030204" pitchFamily="34" charset="0"/>
                <a:ea typeface="Calibri" panose="020F0502020204030204" pitchFamily="34" charset="0"/>
                <a:cs typeface="Calibri" panose="020F0502020204030204" pitchFamily="34" charset="0"/>
              </a:rPr>
              <a:t>Data Preprocessing</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Cleaning the dataset by removing missing values, correcting inconsistencies, and organizing columns.</a:t>
            </a:r>
          </a:p>
          <a:p>
            <a:r>
              <a:rPr lang="en-US" sz="1600" b="1" dirty="0">
                <a:latin typeface="Calibri" panose="020F0502020204030204" pitchFamily="34" charset="0"/>
                <a:ea typeface="Calibri" panose="020F0502020204030204" pitchFamily="34" charset="0"/>
                <a:cs typeface="Calibri" panose="020F0502020204030204" pitchFamily="34" charset="0"/>
              </a:rPr>
              <a:t>Data Visualization</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Creating interactive dashboards that display key insights such as:</a:t>
            </a:r>
          </a:p>
          <a:p>
            <a:pPr lvl="1">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Total Anime Titles</a:t>
            </a:r>
          </a:p>
          <a:p>
            <a:pPr lvl="1">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Average Ratings</a:t>
            </a:r>
          </a:p>
          <a:p>
            <a:pPr lvl="1">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Top Popular Anime</a:t>
            </a:r>
          </a:p>
          <a:p>
            <a:pPr lvl="1">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Media Type Distribution</a:t>
            </a:r>
          </a:p>
          <a:p>
            <a:pPr lvl="1">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Top Production Studios</a:t>
            </a:r>
          </a:p>
          <a:p>
            <a:pPr lvl="1">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Genre Analysis</a:t>
            </a:r>
          </a:p>
          <a:p>
            <a:pPr marL="0" indent="0">
              <a:spcBef>
                <a:spcPct val="20000"/>
              </a:spcBef>
              <a:spcAft>
                <a:spcPts val="600"/>
              </a:spcAft>
              <a:buNone/>
            </a:pPr>
            <a:endParaRPr lang="en-GB" sz="16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The system was developed using data analytics and visualization tools.</a:t>
            </a:r>
          </a:p>
          <a:p>
            <a:pPr marL="0" indent="0">
              <a:buNone/>
            </a:pPr>
            <a:r>
              <a:rPr lang="en-IN" sz="2000" b="1" dirty="0">
                <a:latin typeface="Calibri" panose="020F0502020204030204" pitchFamily="34" charset="0"/>
                <a:ea typeface="Calibri" panose="020F0502020204030204" pitchFamily="34" charset="0"/>
                <a:cs typeface="Calibri" panose="020F0502020204030204" pitchFamily="34" charset="0"/>
              </a:rPr>
              <a:t>System Requirements</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Hardware Requirements</a:t>
            </a:r>
          </a:p>
          <a:p>
            <a:r>
              <a:rPr lang="en-IN" sz="2000" dirty="0">
                <a:latin typeface="Calibri" panose="020F0502020204030204" pitchFamily="34" charset="0"/>
                <a:ea typeface="Calibri" panose="020F0502020204030204" pitchFamily="34" charset="0"/>
                <a:cs typeface="Calibri" panose="020F0502020204030204" pitchFamily="34" charset="0"/>
              </a:rPr>
              <a:t>Processor: Intel i3 or above</a:t>
            </a:r>
          </a:p>
          <a:p>
            <a:r>
              <a:rPr lang="en-IN" sz="2000" dirty="0">
                <a:latin typeface="Calibri" panose="020F0502020204030204" pitchFamily="34" charset="0"/>
                <a:ea typeface="Calibri" panose="020F0502020204030204" pitchFamily="34" charset="0"/>
                <a:cs typeface="Calibri" panose="020F0502020204030204" pitchFamily="34" charset="0"/>
              </a:rPr>
              <a:t>RAM: 4GB or higher</a:t>
            </a:r>
          </a:p>
          <a:p>
            <a:r>
              <a:rPr lang="en-IN" sz="2000" dirty="0">
                <a:latin typeface="Calibri" panose="020F0502020204030204" pitchFamily="34" charset="0"/>
                <a:ea typeface="Calibri" panose="020F0502020204030204" pitchFamily="34" charset="0"/>
                <a:cs typeface="Calibri" panose="020F0502020204030204" pitchFamily="34" charset="0"/>
              </a:rPr>
              <a:t>Storage: 2GB free space</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Software Requirements</a:t>
            </a:r>
          </a:p>
          <a:p>
            <a:r>
              <a:rPr lang="en-IN" sz="2000" dirty="0">
                <a:latin typeface="Calibri" panose="020F0502020204030204" pitchFamily="34" charset="0"/>
                <a:ea typeface="Calibri" panose="020F0502020204030204" pitchFamily="34" charset="0"/>
                <a:cs typeface="Calibri" panose="020F0502020204030204" pitchFamily="34" charset="0"/>
              </a:rPr>
              <a:t>Microsoft Power BI Desktop</a:t>
            </a:r>
          </a:p>
          <a:p>
            <a:r>
              <a:rPr lang="en-IN" sz="2000" dirty="0">
                <a:latin typeface="Calibri" panose="020F0502020204030204" pitchFamily="34" charset="0"/>
                <a:ea typeface="Calibri" panose="020F0502020204030204" pitchFamily="34" charset="0"/>
                <a:cs typeface="Calibri" panose="020F0502020204030204" pitchFamily="34" charset="0"/>
              </a:rPr>
              <a:t>Microsoft Excel / CSV dataset</a:t>
            </a:r>
          </a:p>
          <a:p>
            <a:r>
              <a:rPr lang="en-IN" sz="2000" dirty="0">
                <a:latin typeface="Calibri" panose="020F0502020204030204" pitchFamily="34" charset="0"/>
                <a:ea typeface="Calibri" panose="020F0502020204030204" pitchFamily="34" charset="0"/>
                <a:cs typeface="Calibri" panose="020F0502020204030204" pitchFamily="34" charset="0"/>
              </a:rPr>
              <a:t>Windows Operating System</a:t>
            </a:r>
          </a:p>
          <a:p>
            <a:pPr marL="0" indent="0">
              <a:spcBef>
                <a:spcPct val="20000"/>
              </a:spcBef>
              <a:spcAft>
                <a:spcPts val="600"/>
              </a:spcAft>
              <a:buNone/>
            </a:pP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170447" y="1349375"/>
            <a:ext cx="10946732" cy="4860688"/>
          </a:xfrm>
        </p:spPr>
        <p:txBody>
          <a:bodyPr vert="horz" lIns="91440" tIns="45720" rIns="91440" bIns="45720" rtlCol="0">
            <a:normAutofit fontScale="77500" lnSpcReduction="20000"/>
          </a:bodyPr>
          <a:lstStyle/>
          <a:p>
            <a:pPr marL="0" indent="0">
              <a:buNone/>
            </a:pPr>
            <a:r>
              <a:rPr lang="en-IN" sz="2300" b="1" dirty="0">
                <a:latin typeface="Calibri" panose="020F0502020204030204" pitchFamily="34" charset="0"/>
                <a:ea typeface="Calibri" panose="020F0502020204030204" pitchFamily="34" charset="0"/>
                <a:cs typeface="Calibri" panose="020F0502020204030204" pitchFamily="34" charset="0"/>
              </a:rPr>
              <a:t>Data Input</a:t>
            </a:r>
            <a:br>
              <a:rPr lang="en-IN" sz="2300" dirty="0">
                <a:latin typeface="Calibri" panose="020F0502020204030204" pitchFamily="34" charset="0"/>
                <a:ea typeface="Calibri" panose="020F0502020204030204" pitchFamily="34" charset="0"/>
                <a:cs typeface="Calibri" panose="020F0502020204030204" pitchFamily="34" charset="0"/>
              </a:rPr>
            </a:br>
            <a:r>
              <a:rPr lang="en-IN" sz="2300" dirty="0">
                <a:latin typeface="Calibri" panose="020F0502020204030204" pitchFamily="34" charset="0"/>
                <a:ea typeface="Calibri" panose="020F0502020204030204" pitchFamily="34" charset="0"/>
                <a:cs typeface="Calibri" panose="020F0502020204030204" pitchFamily="34" charset="0"/>
              </a:rPr>
              <a:t>Anime dataset containing title, genre, rating, popularity score, episode count, media type, and production studio.</a:t>
            </a:r>
          </a:p>
          <a:p>
            <a:pPr marL="0" indent="0">
              <a:buNone/>
            </a:pPr>
            <a:r>
              <a:rPr lang="en-IN" sz="2300" b="1" dirty="0">
                <a:latin typeface="Calibri" panose="020F0502020204030204" pitchFamily="34" charset="0"/>
                <a:ea typeface="Calibri" panose="020F0502020204030204" pitchFamily="34" charset="0"/>
                <a:cs typeface="Calibri" panose="020F0502020204030204" pitchFamily="34" charset="0"/>
              </a:rPr>
              <a:t>Data Processing</a:t>
            </a:r>
            <a:endParaRPr lang="en-IN" sz="2300" dirty="0">
              <a:latin typeface="Calibri" panose="020F0502020204030204" pitchFamily="34" charset="0"/>
              <a:ea typeface="Calibri" panose="020F0502020204030204" pitchFamily="34" charset="0"/>
              <a:cs typeface="Calibri" panose="020F0502020204030204" pitchFamily="34" charset="0"/>
            </a:endParaRPr>
          </a:p>
          <a:p>
            <a:pPr lvl="1"/>
            <a:r>
              <a:rPr lang="en-IN" sz="2300" dirty="0">
                <a:latin typeface="Calibri" panose="020F0502020204030204" pitchFamily="34" charset="0"/>
                <a:ea typeface="Calibri" panose="020F0502020204030204" pitchFamily="34" charset="0"/>
                <a:cs typeface="Calibri" panose="020F0502020204030204" pitchFamily="34" charset="0"/>
              </a:rPr>
              <a:t>Import dataset into Power BI</a:t>
            </a:r>
          </a:p>
          <a:p>
            <a:pPr lvl="1"/>
            <a:r>
              <a:rPr lang="en-IN" sz="2300" dirty="0">
                <a:latin typeface="Calibri" panose="020F0502020204030204" pitchFamily="34" charset="0"/>
                <a:ea typeface="Calibri" panose="020F0502020204030204" pitchFamily="34" charset="0"/>
                <a:cs typeface="Calibri" panose="020F0502020204030204" pitchFamily="34" charset="0"/>
              </a:rPr>
              <a:t>Clean and organize data</a:t>
            </a:r>
          </a:p>
          <a:p>
            <a:pPr lvl="1"/>
            <a:r>
              <a:rPr lang="en-IN" sz="2300" dirty="0">
                <a:latin typeface="Calibri" panose="020F0502020204030204" pitchFamily="34" charset="0"/>
                <a:ea typeface="Calibri" panose="020F0502020204030204" pitchFamily="34" charset="0"/>
                <a:cs typeface="Calibri" panose="020F0502020204030204" pitchFamily="34" charset="0"/>
              </a:rPr>
              <a:t>Create calculated measures and KPIs</a:t>
            </a:r>
          </a:p>
          <a:p>
            <a:pPr lvl="1"/>
            <a:r>
              <a:rPr lang="en-IN" sz="2300" dirty="0">
                <a:latin typeface="Calibri" panose="020F0502020204030204" pitchFamily="34" charset="0"/>
                <a:ea typeface="Calibri" panose="020F0502020204030204" pitchFamily="34" charset="0"/>
                <a:cs typeface="Calibri" panose="020F0502020204030204" pitchFamily="34" charset="0"/>
              </a:rPr>
              <a:t>Prepare data model for analysis</a:t>
            </a:r>
          </a:p>
          <a:p>
            <a:pPr marL="0" indent="0">
              <a:buNone/>
            </a:pPr>
            <a:r>
              <a:rPr lang="en-IN" sz="2300" b="1" dirty="0">
                <a:latin typeface="Calibri" panose="020F0502020204030204" pitchFamily="34" charset="0"/>
                <a:ea typeface="Calibri" panose="020F0502020204030204" pitchFamily="34" charset="0"/>
                <a:cs typeface="Calibri" panose="020F0502020204030204" pitchFamily="34" charset="0"/>
              </a:rPr>
              <a:t>Visualization Algorithm (Analytical Flow)</a:t>
            </a:r>
            <a:endParaRPr lang="en-IN" sz="2300" dirty="0">
              <a:latin typeface="Calibri" panose="020F0502020204030204" pitchFamily="34" charset="0"/>
              <a:ea typeface="Calibri" panose="020F0502020204030204" pitchFamily="34" charset="0"/>
              <a:cs typeface="Calibri" panose="020F0502020204030204" pitchFamily="34" charset="0"/>
            </a:endParaRPr>
          </a:p>
          <a:p>
            <a:pPr marL="914400" lvl="1" indent="-457200">
              <a:buFont typeface="+mj-lt"/>
              <a:buAutoNum type="arabicPeriod"/>
            </a:pPr>
            <a:r>
              <a:rPr lang="en-IN" sz="2300" dirty="0">
                <a:latin typeface="Calibri" panose="020F0502020204030204" pitchFamily="34" charset="0"/>
                <a:ea typeface="Calibri" panose="020F0502020204030204" pitchFamily="34" charset="0"/>
                <a:cs typeface="Calibri" panose="020F0502020204030204" pitchFamily="34" charset="0"/>
              </a:rPr>
              <a:t>Load dataset</a:t>
            </a:r>
          </a:p>
          <a:p>
            <a:pPr marL="914400" lvl="1" indent="-457200">
              <a:buFont typeface="+mj-lt"/>
              <a:buAutoNum type="arabicPeriod"/>
            </a:pPr>
            <a:r>
              <a:rPr lang="en-IN" sz="2300" dirty="0">
                <a:latin typeface="Calibri" panose="020F0502020204030204" pitchFamily="34" charset="0"/>
                <a:ea typeface="Calibri" panose="020F0502020204030204" pitchFamily="34" charset="0"/>
                <a:cs typeface="Calibri" panose="020F0502020204030204" pitchFamily="34" charset="0"/>
              </a:rPr>
              <a:t>Process and structure the data</a:t>
            </a:r>
          </a:p>
          <a:p>
            <a:pPr marL="914400" lvl="1" indent="-457200">
              <a:buFont typeface="+mj-lt"/>
              <a:buAutoNum type="arabicPeriod"/>
            </a:pPr>
            <a:r>
              <a:rPr lang="en-IN" sz="2300" dirty="0">
                <a:latin typeface="Calibri" panose="020F0502020204030204" pitchFamily="34" charset="0"/>
                <a:ea typeface="Calibri" panose="020F0502020204030204" pitchFamily="34" charset="0"/>
                <a:cs typeface="Calibri" panose="020F0502020204030204" pitchFamily="34" charset="0"/>
              </a:rPr>
              <a:t>Generate KPIs (Total Anime, Average Rating, etc.)</a:t>
            </a:r>
          </a:p>
          <a:p>
            <a:pPr marL="914400" lvl="1" indent="-457200">
              <a:buFont typeface="+mj-lt"/>
              <a:buAutoNum type="arabicPeriod"/>
            </a:pPr>
            <a:r>
              <a:rPr lang="en-IN" sz="2300" dirty="0">
                <a:latin typeface="Calibri" panose="020F0502020204030204" pitchFamily="34" charset="0"/>
                <a:ea typeface="Calibri" panose="020F0502020204030204" pitchFamily="34" charset="0"/>
                <a:cs typeface="Calibri" panose="020F0502020204030204" pitchFamily="34" charset="0"/>
              </a:rPr>
              <a:t>Create charts for popularity, genre, and studio analysis</a:t>
            </a:r>
          </a:p>
          <a:p>
            <a:pPr marL="914400" lvl="1" indent="-457200">
              <a:buFont typeface="+mj-lt"/>
              <a:buAutoNum type="arabicPeriod"/>
            </a:pPr>
            <a:r>
              <a:rPr lang="en-IN" sz="2300" dirty="0">
                <a:latin typeface="Calibri" panose="020F0502020204030204" pitchFamily="34" charset="0"/>
                <a:ea typeface="Calibri" panose="020F0502020204030204" pitchFamily="34" charset="0"/>
                <a:cs typeface="Calibri" panose="020F0502020204030204" pitchFamily="34" charset="0"/>
              </a:rPr>
              <a:t>Design interactive dashboard</a:t>
            </a:r>
          </a:p>
          <a:p>
            <a:pPr marL="0" indent="0">
              <a:buNone/>
            </a:pPr>
            <a:r>
              <a:rPr lang="en-IN" sz="2300" b="1" dirty="0">
                <a:latin typeface="Calibri" panose="020F0502020204030204" pitchFamily="34" charset="0"/>
                <a:ea typeface="Calibri" panose="020F0502020204030204" pitchFamily="34" charset="0"/>
                <a:cs typeface="Calibri" panose="020F0502020204030204" pitchFamily="34" charset="0"/>
              </a:rPr>
              <a:t>Deployment</a:t>
            </a:r>
            <a:endParaRPr lang="en-IN" sz="2300" dirty="0">
              <a:latin typeface="Calibri" panose="020F0502020204030204" pitchFamily="34" charset="0"/>
              <a:ea typeface="Calibri" panose="020F0502020204030204" pitchFamily="34" charset="0"/>
              <a:cs typeface="Calibri" panose="020F0502020204030204" pitchFamily="34" charset="0"/>
            </a:endParaRPr>
          </a:p>
          <a:p>
            <a:pPr lvl="1"/>
            <a:r>
              <a:rPr lang="en-IN" sz="2300" dirty="0">
                <a:latin typeface="Calibri" panose="020F0502020204030204" pitchFamily="34" charset="0"/>
                <a:ea typeface="Calibri" panose="020F0502020204030204" pitchFamily="34" charset="0"/>
                <a:cs typeface="Calibri" panose="020F0502020204030204" pitchFamily="34" charset="0"/>
              </a:rPr>
              <a:t>Dashboard created using </a:t>
            </a:r>
            <a:r>
              <a:rPr lang="en-IN" sz="2300" b="1" dirty="0">
                <a:latin typeface="Calibri" panose="020F0502020204030204" pitchFamily="34" charset="0"/>
                <a:ea typeface="Calibri" panose="020F0502020204030204" pitchFamily="34" charset="0"/>
                <a:cs typeface="Calibri" panose="020F0502020204030204" pitchFamily="34" charset="0"/>
              </a:rPr>
              <a:t>Microsoft Power BI Desktop</a:t>
            </a:r>
            <a:endParaRPr lang="en-IN" sz="2300" dirty="0">
              <a:latin typeface="Calibri" panose="020F0502020204030204" pitchFamily="34" charset="0"/>
              <a:ea typeface="Calibri" panose="020F0502020204030204" pitchFamily="34" charset="0"/>
              <a:cs typeface="Calibri" panose="020F0502020204030204" pitchFamily="34" charset="0"/>
            </a:endParaRPr>
          </a:p>
          <a:p>
            <a:pPr lvl="1"/>
            <a:r>
              <a:rPr lang="en-IN" sz="2300" dirty="0">
                <a:latin typeface="Calibri" panose="020F0502020204030204" pitchFamily="34" charset="0"/>
                <a:ea typeface="Calibri" panose="020F0502020204030204" pitchFamily="34" charset="0"/>
                <a:cs typeface="Calibri" panose="020F0502020204030204" pitchFamily="34" charset="0"/>
              </a:rPr>
              <a:t>Reports can be published to </a:t>
            </a:r>
            <a:r>
              <a:rPr lang="en-IN" sz="2300" b="1" dirty="0">
                <a:latin typeface="Calibri" panose="020F0502020204030204" pitchFamily="34" charset="0"/>
                <a:ea typeface="Calibri" panose="020F0502020204030204" pitchFamily="34" charset="0"/>
                <a:cs typeface="Calibri" panose="020F0502020204030204" pitchFamily="34" charset="0"/>
              </a:rPr>
              <a:t>Power BI Service</a:t>
            </a:r>
            <a:endParaRPr lang="en-IN" sz="2300" dirty="0">
              <a:latin typeface="Calibri" panose="020F0502020204030204" pitchFamily="34" charset="0"/>
              <a:ea typeface="Calibri" panose="020F0502020204030204" pitchFamily="34" charset="0"/>
              <a:cs typeface="Calibri" panose="020F0502020204030204" pitchFamily="34" charset="0"/>
            </a:endParaRPr>
          </a:p>
          <a:p>
            <a:pPr lvl="1"/>
            <a:r>
              <a:rPr lang="en-IN" sz="2300" dirty="0">
                <a:latin typeface="Calibri" panose="020F0502020204030204" pitchFamily="34" charset="0"/>
                <a:ea typeface="Calibri" panose="020F0502020204030204" pitchFamily="34" charset="0"/>
                <a:cs typeface="Calibri" panose="020F0502020204030204" pitchFamily="34" charset="0"/>
              </a:rPr>
              <a:t>Users can interact with filters and visual insights.</a:t>
            </a:r>
          </a:p>
          <a:p>
            <a:pPr marL="305435" indent="-305435">
              <a:spcBef>
                <a:spcPct val="20000"/>
              </a:spcBef>
              <a:spcAft>
                <a:spcPts val="600"/>
              </a:spcAft>
              <a:buFont typeface="Arial"/>
              <a:buChar char="•"/>
            </a:pPr>
            <a:endParaRPr lang="en-GB" sz="15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7" name="Content Placeholder 6">
            <a:extLst>
              <a:ext uri="{FF2B5EF4-FFF2-40B4-BE49-F238E27FC236}">
                <a16:creationId xmlns:a16="http://schemas.microsoft.com/office/drawing/2014/main" id="{AB430650-A2FA-7B93-13BE-A48B110BA3CB}"/>
              </a:ext>
            </a:extLst>
          </p:cNvPr>
          <p:cNvPicPr>
            <a:picLocks noGrp="1" noChangeAspect="1"/>
          </p:cNvPicPr>
          <p:nvPr>
            <p:ph idx="1"/>
          </p:nvPr>
        </p:nvPicPr>
        <p:blipFill>
          <a:blip r:embed="rId2"/>
          <a:stretch>
            <a:fillRect/>
          </a:stretch>
        </p:blipFill>
        <p:spPr>
          <a:xfrm>
            <a:off x="1821859" y="1584325"/>
            <a:ext cx="7548158" cy="4251325"/>
          </a:xfrm>
        </p:spPr>
      </p:pic>
      <p:pic>
        <p:nvPicPr>
          <p:cNvPr id="9" name="Picture 8">
            <a:extLst>
              <a:ext uri="{FF2B5EF4-FFF2-40B4-BE49-F238E27FC236}">
                <a16:creationId xmlns:a16="http://schemas.microsoft.com/office/drawing/2014/main" id="{03BC578C-D6F1-C180-9E54-153B88AD7C19}"/>
              </a:ext>
            </a:extLst>
          </p:cNvPr>
          <p:cNvPicPr>
            <a:picLocks noChangeAspect="1"/>
          </p:cNvPicPr>
          <p:nvPr/>
        </p:nvPicPr>
        <p:blipFill>
          <a:blip r:embed="rId2"/>
          <a:stretch>
            <a:fillRect/>
          </a:stretch>
        </p:blipFill>
        <p:spPr>
          <a:xfrm>
            <a:off x="277570" y="1432886"/>
            <a:ext cx="8018453" cy="4951872"/>
          </a:xfrm>
          <a:prstGeom prst="rect">
            <a:avLst/>
          </a:prstGeom>
        </p:spPr>
      </p:pic>
      <p:sp>
        <p:nvSpPr>
          <p:cNvPr id="11" name="TextBox 10">
            <a:extLst>
              <a:ext uri="{FF2B5EF4-FFF2-40B4-BE49-F238E27FC236}">
                <a16:creationId xmlns:a16="http://schemas.microsoft.com/office/drawing/2014/main" id="{3FD910AF-D17F-A5A3-7614-FF08123DE997}"/>
              </a:ext>
            </a:extLst>
          </p:cNvPr>
          <p:cNvSpPr txBox="1"/>
          <p:nvPr/>
        </p:nvSpPr>
        <p:spPr>
          <a:xfrm>
            <a:off x="8687897" y="1432886"/>
            <a:ext cx="2935705" cy="4585871"/>
          </a:xfrm>
          <a:prstGeom prst="rect">
            <a:avLst/>
          </a:prstGeom>
          <a:noFill/>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Data Preprocessing using Power BI Query Editor:</a:t>
            </a:r>
          </a:p>
          <a:p>
            <a:r>
              <a:rPr lang="en-US" dirty="0">
                <a:latin typeface="Calibri" panose="020F0502020204030204" pitchFamily="34" charset="0"/>
                <a:ea typeface="Calibri" panose="020F0502020204030204" pitchFamily="34" charset="0"/>
                <a:cs typeface="Calibri" panose="020F0502020204030204" pitchFamily="34" charset="0"/>
              </a:rPr>
              <a:t>The developed Power BI dashboard successfully visualizes key insights from the anime dataset. It displays important metrics such as total anime titles, average ratings, top popular anime, genre distribution, and leading production studios. The dashboard enables users to easily analyze trends and patterns in the anime industry through interactive visualizations.</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EA2AC3-71BB-E20E-2B25-2CBA499AD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758" y="1021937"/>
            <a:ext cx="10619874" cy="5046728"/>
          </a:xfrm>
          <a:prstGeom prst="rect">
            <a:avLst/>
          </a:prstGeom>
        </p:spPr>
      </p:pic>
    </p:spTree>
    <p:extLst>
      <p:ext uri="{BB962C8B-B14F-4D97-AF65-F5344CB8AC3E}">
        <p14:creationId xmlns:p14="http://schemas.microsoft.com/office/powerpoint/2010/main" val="2244089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009EBD-0D8B-D121-3FAF-026A6C37B0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443" y="1208122"/>
            <a:ext cx="8380397" cy="4684768"/>
          </a:xfrm>
          <a:prstGeom prst="rect">
            <a:avLst/>
          </a:prstGeom>
        </p:spPr>
      </p:pic>
      <p:sp>
        <p:nvSpPr>
          <p:cNvPr id="4" name="TextBox 3">
            <a:extLst>
              <a:ext uri="{FF2B5EF4-FFF2-40B4-BE49-F238E27FC236}">
                <a16:creationId xmlns:a16="http://schemas.microsoft.com/office/drawing/2014/main" id="{F938B386-92B7-F625-3853-89F6A44FCD02}"/>
              </a:ext>
            </a:extLst>
          </p:cNvPr>
          <p:cNvSpPr txBox="1"/>
          <p:nvPr/>
        </p:nvSpPr>
        <p:spPr>
          <a:xfrm>
            <a:off x="8976360" y="1208122"/>
            <a:ext cx="2670208" cy="4001095"/>
          </a:xfrm>
          <a:prstGeom prst="rect">
            <a:avLst/>
          </a:prstGeom>
          <a:noFill/>
        </p:spPr>
        <p:txBody>
          <a:bodyPr wrap="square" rtlCol="0">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Data Preprocessing:</a:t>
            </a:r>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dirty="0">
                <a:latin typeface="Calibri" panose="020F0502020204030204" pitchFamily="34" charset="0"/>
                <a:ea typeface="Calibri" panose="020F0502020204030204" pitchFamily="34" charset="0"/>
                <a:cs typeface="Calibri" panose="020F0502020204030204" pitchFamily="34" charset="0"/>
              </a:rPr>
              <a:t>The anime dataset was imported into Power BI and cleaned using the Power Query Editor. Data types were corrected, missing values were handled, and irrelevant rows were filtered. This preprocessing step ensures that the dataset is structured and ready for accurate analysis and visualization.</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29973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7912B7-E52F-9657-FDFD-48FB760F3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35" y="1054768"/>
            <a:ext cx="7997411" cy="4748463"/>
          </a:xfrm>
          <a:prstGeom prst="rect">
            <a:avLst/>
          </a:prstGeom>
        </p:spPr>
      </p:pic>
      <p:sp>
        <p:nvSpPr>
          <p:cNvPr id="4" name="TextBox 3">
            <a:extLst>
              <a:ext uri="{FF2B5EF4-FFF2-40B4-BE49-F238E27FC236}">
                <a16:creationId xmlns:a16="http://schemas.microsoft.com/office/drawing/2014/main" id="{988A10C7-993E-2030-36A8-B1152CC194E5}"/>
              </a:ext>
            </a:extLst>
          </p:cNvPr>
          <p:cNvSpPr txBox="1"/>
          <p:nvPr/>
        </p:nvSpPr>
        <p:spPr>
          <a:xfrm>
            <a:off x="8839200" y="1357964"/>
            <a:ext cx="2362200" cy="3724096"/>
          </a:xfrm>
          <a:prstGeom prst="rect">
            <a:avLst/>
          </a:prstGeom>
          <a:noFill/>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Dataset Structure:</a:t>
            </a:r>
          </a:p>
          <a:p>
            <a:r>
              <a:rPr lang="en-US" dirty="0">
                <a:latin typeface="Calibri" panose="020F0502020204030204" pitchFamily="34" charset="0"/>
                <a:ea typeface="Calibri" panose="020F0502020204030204" pitchFamily="34" charset="0"/>
                <a:cs typeface="Calibri" panose="020F0502020204030204" pitchFamily="34" charset="0"/>
              </a:rPr>
              <a:t>The dataset contains important anime information such as title, genre, type, rating score, popularity, and user engagement. These attributes are used to generate key performance indicators and visual analytics in the dashboard.</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33598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The Anime Industry Analytics Dashboard demonstrates how data visualization tools like Power BI can transform raw datasets into meaningful insights.</a:t>
            </a:r>
          </a:p>
          <a:p>
            <a:r>
              <a:rPr lang="en-US" sz="2400" dirty="0">
                <a:latin typeface="Calibri" panose="020F0502020204030204" pitchFamily="34" charset="0"/>
                <a:ea typeface="Calibri" panose="020F0502020204030204" pitchFamily="34" charset="0"/>
                <a:cs typeface="Calibri" panose="020F0502020204030204" pitchFamily="34" charset="0"/>
              </a:rPr>
              <a:t>The system successfully analyzes anime industry data and presents it in an interactive and user-friendly dashboard format. Users can easily identify trends such as popular anime titles, dominant genres, and leading production studios.</a:t>
            </a:r>
          </a:p>
          <a:p>
            <a:r>
              <a:rPr lang="en-US" sz="2400" dirty="0">
                <a:latin typeface="Calibri" panose="020F0502020204030204" pitchFamily="34" charset="0"/>
                <a:ea typeface="Calibri" panose="020F0502020204030204" pitchFamily="34" charset="0"/>
                <a:cs typeface="Calibri" panose="020F0502020204030204" pitchFamily="34" charset="0"/>
              </a:rPr>
              <a:t>This project highlights the importance of data analytics in understanding entertainment industry trends and supporting better decision-making</a:t>
            </a:r>
            <a:r>
              <a:rPr lang="en-US" sz="2400" dirty="0"/>
              <a:t>.</a:t>
            </a:r>
          </a:p>
          <a:p>
            <a:pPr marL="0" indent="0">
              <a:buNone/>
            </a:pP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The project can be further enhanced with additional features:</a:t>
            </a:r>
          </a:p>
          <a:p>
            <a:r>
              <a:rPr lang="en-US" sz="2400" dirty="0">
                <a:latin typeface="Calibri" panose="020F0502020204030204" pitchFamily="34" charset="0"/>
                <a:ea typeface="Calibri" panose="020F0502020204030204" pitchFamily="34" charset="0"/>
                <a:cs typeface="Calibri" panose="020F0502020204030204" pitchFamily="34" charset="0"/>
              </a:rPr>
              <a:t>Integration of real-time anime streaming platform data</a:t>
            </a:r>
          </a:p>
          <a:p>
            <a:r>
              <a:rPr lang="en-US" sz="2400" dirty="0">
                <a:latin typeface="Calibri" panose="020F0502020204030204" pitchFamily="34" charset="0"/>
                <a:ea typeface="Calibri" panose="020F0502020204030204" pitchFamily="34" charset="0"/>
                <a:cs typeface="Calibri" panose="020F0502020204030204" pitchFamily="34" charset="0"/>
              </a:rPr>
              <a:t>Predictive analysis of anime popularity using machine learning</a:t>
            </a:r>
          </a:p>
          <a:p>
            <a:r>
              <a:rPr lang="en-US" sz="2400" dirty="0">
                <a:latin typeface="Calibri" panose="020F0502020204030204" pitchFamily="34" charset="0"/>
                <a:ea typeface="Calibri" panose="020F0502020204030204" pitchFamily="34" charset="0"/>
                <a:cs typeface="Calibri" panose="020F0502020204030204" pitchFamily="34" charset="0"/>
              </a:rPr>
              <a:t>Sentiment analysis of fan reviews from social media</a:t>
            </a:r>
          </a:p>
          <a:p>
            <a:r>
              <a:rPr lang="en-US" sz="2400" dirty="0">
                <a:latin typeface="Calibri" panose="020F0502020204030204" pitchFamily="34" charset="0"/>
                <a:ea typeface="Calibri" panose="020F0502020204030204" pitchFamily="34" charset="0"/>
                <a:cs typeface="Calibri" panose="020F0502020204030204" pitchFamily="34" charset="0"/>
              </a:rPr>
              <a:t>Expansion of the dashboard to include global anime market trends</a:t>
            </a:r>
          </a:p>
          <a:p>
            <a:r>
              <a:rPr lang="en-US" sz="2400" dirty="0">
                <a:latin typeface="Calibri" panose="020F0502020204030204" pitchFamily="34" charset="0"/>
                <a:ea typeface="Calibri" panose="020F0502020204030204" pitchFamily="34" charset="0"/>
                <a:cs typeface="Calibri" panose="020F0502020204030204" pitchFamily="34" charset="0"/>
              </a:rPr>
              <a:t>Deployment as a web-based analytics application</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These improvements would provide deeper insights into the anime industry.</a:t>
            </a:r>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5048964" cy="1325563"/>
          </a:xfrm>
        </p:spPr>
        <p:txBody>
          <a:bodyPr vert="horz" lIns="91440" tIns="45720" rIns="91440" bIns="45720" rtlCol="0" anchor="t">
            <a:normAutofit/>
          </a:bodyPr>
          <a:lstStyle/>
          <a:p>
            <a:pPr marL="0" indent="0">
              <a:buNone/>
            </a:pP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
        <p:nvSpPr>
          <p:cNvPr id="10" name="Rectangle 6">
            <a:extLst>
              <a:ext uri="{FF2B5EF4-FFF2-40B4-BE49-F238E27FC236}">
                <a16:creationId xmlns:a16="http://schemas.microsoft.com/office/drawing/2014/main" id="{87B639F5-040A-BDB3-2923-7FE851845262}"/>
              </a:ext>
            </a:extLst>
          </p:cNvPr>
          <p:cNvSpPr>
            <a:spLocks noChangeArrowheads="1"/>
          </p:cNvSpPr>
          <p:nvPr/>
        </p:nvSpPr>
        <p:spPr bwMode="auto">
          <a:xfrm>
            <a:off x="196804" y="1551125"/>
            <a:ext cx="835793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MyAnimeList Anime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Microsoft Power BI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Kaggle Anime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 Visualization Best Practices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pPr>
            <a:r>
              <a:rPr lang="en-IN" sz="2400" dirty="0">
                <a:latin typeface="Calibri" panose="020F0502020204030204" pitchFamily="34" charset="0"/>
                <a:ea typeface="Calibri" panose="020F0502020204030204" pitchFamily="34" charset="0"/>
                <a:cs typeface="Calibri" panose="020F0502020204030204" pitchFamily="34" charset="0"/>
              </a:rPr>
              <a:t>GitHub Link: </a:t>
            </a: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808</Words>
  <Application>Microsoft Office PowerPoint</Application>
  <PresentationFormat>Widescreen</PresentationFormat>
  <Paragraphs>91</Paragraphs>
  <Slides>14</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Aptos</vt:lpstr>
      <vt:lpstr>Arial</vt:lpstr>
      <vt:lpstr>Calibri</vt:lpstr>
      <vt:lpstr>Franklin Gothic Book</vt:lpstr>
      <vt:lpstr>Wingdings</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PowerPoint Presentation</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Diksha .</cp:lastModifiedBy>
  <cp:revision>103</cp:revision>
  <dcterms:created xsi:type="dcterms:W3CDTF">2024-05-21T11:55:07Z</dcterms:created>
  <dcterms:modified xsi:type="dcterms:W3CDTF">2026-03-14T10:44:56Z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